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73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97706"/>
                </a:solidFill>
                <a:latin typeface="Calibri"/>
              </a:defRPr>
            </a:pPr>
            <a:r>
              <a:t>BBAT104 — FUNDAMENTALS OF TOTAL QUALITY MANAGEMENT</a:t>
            </a:r>
          </a:p>
          <a:p>
            <a:pPr>
              <a:spcAft>
                <a:spcPts val="800"/>
              </a:spcAft>
              <a:defRPr sz="3200" b="1">
                <a:solidFill>
                  <a:srgbClr val="730F19"/>
                </a:solidFill>
                <a:latin typeface="Calibri"/>
              </a:defRPr>
            </a:pPr>
            <a:r>
              <a:t>RESTAURANT BILLING &amp; SURVEILLANCE SYSTEM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TQM QUALITY GOAL Q01: IMPROVE RELIABILITY</a:t>
            </a:r>
          </a:p>
          <a:p>
            <a:pPr>
              <a:defRPr sz="1400">
                <a:solidFill>
                  <a:srgbClr val="059669"/>
                </a:solidFill>
                <a:latin typeface="Calibri"/>
              </a:defRPr>
            </a:pPr>
            <a:r>
              <a:t>Process Control   •   Poka-Yoke Error Prevention   •   Traceability &amp; Audit Surveillance   •   Zero Revenue Leaks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9448495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 rIns="36576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730F19"/>
                </a:solidFill>
                <a:latin typeface="Calibri"/>
              </a:defRPr>
            </a:pPr>
            <a:r>
              <a:t>STUDENT &amp; COURSE REGISTRATION DETAILS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Student Name: Ankit Majumdar      |      Roll Number: 2410301003      |      Section: A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Course: BBAT104 • Amrapali University, Haldwani      |      Session: 2026–2027      |      Reviews 1 &amp;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02 | PROJECT OVERVIEW</a:t>
            </a:r>
          </a:p>
          <a:p>
            <a:pPr>
              <a:spcAft>
                <a:spcPts val="200"/>
              </a:spcAft>
              <a:defRPr sz="2600" b="1">
                <a:solidFill>
                  <a:srgbClr val="730F19"/>
                </a:solidFill>
                <a:latin typeface="Calibri"/>
              </a:defRPr>
            </a:pPr>
            <a:r>
              <a:t>Operational Problem &amp; TQM Quality Goal Q01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A dependable restaurant billing &amp; surveillance system engineered to eliminate manual calculation errors and untracked voids.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DC2626"/>
                </a:solidFill>
                <a:latin typeface="Calibri"/>
              </a:defRPr>
            </a:pPr>
            <a:r>
              <a:t>THE OPERATIONAL CHALLENGE</a:t>
            </a:r>
          </a:p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Risks of Manual Billing &amp; Untracked Transactions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Manual paper billing results in frequent mathematical calculation mistakes and tax mismatches.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Discounts, cancellations, and voided orders lack transparency, enabling unaccounted revenue leakage.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Lack of role isolation exposes sensitive financial summaries and configuration settings to cashiers.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74520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TQM QUALITY GOAL: Q01 IMPROVE RELIABILITY</a:t>
            </a:r>
          </a:p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Core Quality Philosophy: Prevent Errors Proactively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Primary Objective: Ensure 100% dependable billing accuracy, non-repudiation, and audit traceability.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Error Prevention Early: Input validations and poka-yoke gates stop invalid data at entry, not post-billing.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Continuous Assurance: Built-in verification controls monitor staff actions, void logs, and system integrity.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343400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CORE ENGINEERING APPROACH</a:t>
            </a:r>
          </a:p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Robust Technical &amp; Operational Safeguards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Poka-Yoke Validation: Prevents item overselling, invalid price entry, and unverified discount applications.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Granular Role-Based Access Control (RBAC): Distinct portals for Owner, Admin, Cashier, and Kitchen Staff.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Tamper-Evident Audit Trails: Records user IDs, timestamps, and action details for every critical event.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Backup &amp; Disaster Recovery: Automated and on-demand database snapshots ensure zero business downtime.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6052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343400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GOLDEN DESIGN PRINCIPLE</a:t>
            </a:r>
          </a:p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Strict 3-Tier Architecture &amp; Separation of Concerns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The presentation screen must never talk directly to the database or execute direct SQL queries.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Architecture Flow: Client UI (React SPA)  →  Service Layer (Express.js)  →  Persistence (MySQL).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Centralized Business Logic: Financial rounding, GST computation, and security rules execute exclusively on the server.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Modularity Benefit: Dramatically accelerates debugging, simplifies unit testing, and hardens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03 | PROCESS FLOW</a:t>
            </a:r>
          </a:p>
          <a:p>
            <a:pPr>
              <a:spcAft>
                <a:spcPts val="200"/>
              </a:spcAft>
              <a:defRPr sz="2600" b="1">
                <a:solidFill>
                  <a:srgbClr val="730F19"/>
                </a:solidFill>
                <a:latin typeface="Calibri"/>
              </a:defRPr>
            </a:pPr>
            <a:r>
              <a:t>End-to-End Restaurant Billing &amp; Order Pipeline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Quality checks and poka-yoke controls are embedded directly into each step of the daily workflow.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874519"/>
            <a:ext cx="1426464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D97706"/>
                </a:solidFill>
                <a:latin typeface="Calibri"/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Order Intake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Cashier inputs table #, guest name, and chooses active dishes from catalog.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2032" y="173736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1874519"/>
            <a:ext cx="1426464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D97706"/>
                </a:solidFill>
                <a:latin typeface="Calibri"/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Poka-Yoke Check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Server validates dish availability, blocks unavailable items, verifies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73736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874519"/>
            <a:ext cx="1426464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D97706"/>
                </a:solidFill>
                <a:latin typeface="Calibri"/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KDS Dispatch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Order items route live to Kitchen Staff queue for cooking without price exposure.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73736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874519"/>
            <a:ext cx="1426464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D97706"/>
                </a:solidFill>
                <a:latin typeface="Calibri"/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Tax &amp; Calculation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Server auto-applies CGST (2.5%) + SGST (2.5%) &amp; approved discount codes.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73736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6" y="1874519"/>
            <a:ext cx="1426464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D97706"/>
                </a:solidFill>
                <a:latin typeface="Calibri"/>
              </a:defRPr>
            </a:pPr>
            <a:r>
              <a:t>05</a:t>
            </a:r>
          </a:p>
          <a:p>
            <a:pPr>
              <a:spcAft>
                <a:spcPts val="8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Payment Settlement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Cashier settles bill via Cash (change due), Card, or dynamic UPI QR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73736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3808" y="1874519"/>
            <a:ext cx="1426464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D97706"/>
                </a:solidFill>
                <a:latin typeface="Calibri"/>
              </a:defRPr>
            </a:pPr>
            <a:r>
              <a:t>06</a:t>
            </a:r>
          </a:p>
          <a:p>
            <a:pPr>
              <a:spcAft>
                <a:spcPts val="8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Audit &amp; Print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Bill is immutably saved, audit log written, and 80mm GST invoice printed.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92040"/>
            <a:ext cx="10728655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320040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730F19"/>
                </a:solidFill>
                <a:latin typeface="Calibri"/>
              </a:defRPr>
            </a:pPr>
            <a:r>
              <a:t>BUILT-IN QUALITY CONTROL POINTS (POKA-YOKE CHECKS)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Point 1 (Order Entry): Menu items checked against active database records; inactive items strictly hard-blocked.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Point 2 (Settlement): Subtotal, CGST, SGST, and Grand Total calculated exclusively on server; zero client math manipulation.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Point 3 (Post-Bill Surveillance): Finalized bills become permanently read-only; Owner audits records without edit/delete tampering.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04 | STAKEHOLDER ARCHITECTURE</a:t>
            </a:r>
          </a:p>
          <a:p>
            <a:pPr>
              <a:spcAft>
                <a:spcPts val="200"/>
              </a:spcAft>
              <a:defRPr sz="2600" b="1">
                <a:solidFill>
                  <a:srgbClr val="730F19"/>
                </a:solidFill>
                <a:latin typeface="Calibri"/>
              </a:defRPr>
            </a:pPr>
            <a:r>
              <a:t>Stakeholder Hierarchy &amp; SIPOC Process Model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Aligning daily operational inputs, controls, and outputs with distinct organizational stakeholders.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CORE PROJECT STAKEHOLDERS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Restaurant Owner: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Monitors high-level KPIs, sales reports, operating expenses, and estimated P&amp;L. Zero billing tampering.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Administrator: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Manages staff accounts, menu items, prices, backups, and audit logs. Strictly cannot delete the Owner.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Cashier: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Handles rapid table billing, item quantities, discounts, cash/card/UPI payments, and 80mm receipt printing.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Kitchen Staff: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Views real-time preparation queue (KDS), updates dish status (Preparing → Ready) without financial access.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Dining Customer: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Receives accurate itemized billing, GST tax transparency, dynamic UPI QR payments, and clean receipts.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Tax / Business Auditor: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Verifies GSTIN compliance, 5% GST split, non-repudiation audit trails, and data reliability.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SIPOC PROCESS ARCHITECTURE AT A GLANCE</a:t>
            </a:r>
          </a:p>
          <a:p>
            <a:pPr>
              <a:defRPr sz="1400" b="1">
                <a:solidFill>
                  <a:srgbClr val="730F19"/>
                </a:solidFill>
                <a:latin typeface="Calibri"/>
              </a:defRPr>
            </a:pPr>
            <a:r>
              <a:t>S — Suppliers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Kitchen Inventory, Raw Material Vendors, Dining Guests, Cashier Desk</a:t>
            </a:r>
          </a:p>
          <a:p>
            <a:pPr>
              <a:defRPr sz="1400" b="1">
                <a:solidFill>
                  <a:srgbClr val="730F19"/>
                </a:solidFill>
                <a:latin typeface="Calibri"/>
              </a:defRPr>
            </a:pPr>
            <a:r>
              <a:t>I — Inputs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Table #, Food Items, Quantities, Unit Rates, Discount Vouchers, Staff Credentials</a:t>
            </a:r>
          </a:p>
          <a:p>
            <a:pPr>
              <a:defRPr sz="1400" b="1">
                <a:solidFill>
                  <a:srgbClr val="730F19"/>
                </a:solidFill>
                <a:latin typeface="Calibri"/>
              </a:defRPr>
            </a:pPr>
            <a:r>
              <a:t>P — Process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Order Placement  →  Poka-Yoke Validation  →  Kitchen KDS Dispatch  →  Tax/Discount Math  →  Payment Recording  →  Invoice Generation</a:t>
            </a:r>
          </a:p>
          <a:p>
            <a:pPr>
              <a:defRPr sz="1400" b="1">
                <a:solidFill>
                  <a:srgbClr val="730F19"/>
                </a:solidFill>
                <a:latin typeface="Calibri"/>
              </a:defRPr>
            </a:pPr>
            <a:r>
              <a:t>O — Outputs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80mm GST Tax Invoice, KDS Preparation Ticket, Realized Revenue Entry, Immutable Audit Log Record</a:t>
            </a:r>
          </a:p>
          <a:p>
            <a:pPr>
              <a:defRPr sz="1400" b="1">
                <a:solidFill>
                  <a:srgbClr val="730F19"/>
                </a:solidFill>
                <a:latin typeface="Calibri"/>
              </a:defRPr>
            </a:pPr>
            <a:r>
              <a:t>C — Customers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Dining Guests, Cashiers, Kitchen Chefs, System Admin, Restaurant Owner, GST Auditor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05 | SRS SPECIFICATION</a:t>
            </a:r>
          </a:p>
          <a:p>
            <a:pPr>
              <a:spcAft>
                <a:spcPts val="200"/>
              </a:spcAft>
              <a:defRPr sz="2600" b="1">
                <a:solidFill>
                  <a:srgbClr val="730F19"/>
                </a:solidFill>
                <a:latin typeface="Calibri"/>
              </a:defRPr>
            </a:pPr>
            <a:r>
              <a:t>Software Requirements Specification (SRS) Mapped to Stakeholders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Direct mapping of functional specifications, access boundaries, and business rules across project roles.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56232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RESTAURANT OWNER</a:t>
            </a:r>
          </a:p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Section 2 • Executive Surveillance &amp; Audit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SRS-OWN-01: Executive KPI overview (Today's gross sales, completed bills, voided bills, monthly trends).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SRS-OWN-02: Comprehensive Sales Reports (Gross, discounts, 5% GST, net sales, export to CSV/print).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SRS-OWN-03: Real-time Operating Profit &amp; Loss statement based on sales minus recorded expenses.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SRS-OWN-04: Read-Only Bill Surveillance: Access full receipt copy; zero permission to edit or delete.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56232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ADMINISTRATOR (ADMIN)</a:t>
            </a:r>
          </a:p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Section 3 • Operational System Configuration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SRS-ADM-01: Staff account lifecycle (create, update, activate/deactivate Cashier and Kitchen accounts).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SRS-ADM-02: Owner Protection Invariant: Strictly blocked from deleting, demoting, or deactivating Owner.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SRS-ADM-03: Menu Catalog Management: Add dishes, set prices, assign categories, toggle live availability.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SRS-ADM-04: Reliability Maintenance: On-demand database backups, system error review, audit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325112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CASHIER</a:t>
            </a:r>
          </a:p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Section 4 • Point of Sale &amp; Order Billing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SRS-CSH-01: High-speed POS billing: Select table, choose dishes, adjust quantities, view live subtotal.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SRS-CSH-02: Poka-Yoke check: Inactive items blocked from bill addition; negative values rejected.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SRS-CSH-03: Multi-payment settlement: Cash (auto change due calculation), Card, and dynamic UPI QR code.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SRS-CSH-04: Receipt generation: Print standard 80mm thermal receipt; duplicate copy marked with watermark.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6052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325112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DC2626"/>
                </a:solidFill>
                <a:latin typeface="Calibri"/>
              </a:defRPr>
            </a:pPr>
            <a:r>
              <a:t>KITCHEN STAFF (CHEF)</a:t>
            </a:r>
          </a:p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Section 5 • Kitchen Display System (KDS)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SRS-KIT-01: Real-time KDS queue showing incoming order items, quantities, table #, and special instructions.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SRS-KIT-02: Finite workflow state transitions: Mark items as 'Preparing' then 'Ready for Service'.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SRS-KIT-03: State Invariant: Ready orders cannot transition backwards to New through standard buttons.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SRS-KIT-04: Information Hiding: Kitchen displays exclude bill amounts, payment methods, and customer phone.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06 | TQM QUALITY METRICS</a:t>
            </a:r>
          </a:p>
          <a:p>
            <a:pPr>
              <a:spcAft>
                <a:spcPts val="200"/>
              </a:spcAft>
              <a:defRPr sz="2600" b="1">
                <a:solidFill>
                  <a:srgbClr val="730F19"/>
                </a:solidFill>
                <a:latin typeface="Calibri"/>
              </a:defRPr>
            </a:pPr>
            <a:r>
              <a:t>Measurable Quality Requirements &amp; Target Benchmarks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Every quality promise in the project is linked directly to an empirical metric, target, and verification rule.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916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62095"/>
                <a:gridCol w="1645920"/>
                <a:gridCol w="310896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QUALITY AREA</a:t>
                      </a:r>
                    </a:p>
                  </a:txBody>
                  <a:tcPr>
                    <a:solidFill>
                      <a:srgbClr val="730F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MEASURABLE QUALITY METRIC</a:t>
                      </a:r>
                    </a:p>
                  </a:txBody>
                  <a:tcPr>
                    <a:solidFill>
                      <a:srgbClr val="730F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730F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VERIFICATION MECHANISM</a:t>
                      </a:r>
                    </a:p>
                  </a:txBody>
                  <a:tcPr>
                    <a:solidFill>
                      <a:srgbClr val="730F1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Billing Calculation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Mathematical calculation discrepancies on finalized customer bills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 Discrepancies</a:t>
                      </a:r>
                      <a:br/>
                      <a:r>
                        <a:t>(100% Precision)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Automated server-side decimal math &amp; unit test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GST Statutory Compliance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CGST (2.5%) and SGST (2.5%) calculation &amp; itemized tax display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100% Compliance</a:t>
                      </a:r>
                      <a:br/>
                      <a:r>
                        <a:t>(Exact 5.0% GST)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Tax engine validation across gross subtotal transactions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RBAC Role Isolation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Unauthorized attempts by Admin to delete/deactivate Owner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 Violations</a:t>
                      </a:r>
                      <a:br/>
                      <a:r>
                        <a:t>(100% Blocked)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Route-level RBAC middleware returning HTTP 403 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Audit Non-Repudiation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System logs capturing user, role, action, and timestamp on events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100% Coverage</a:t>
                      </a:r>
                      <a:br/>
                      <a:r>
                        <a:t>(Zero Blindspots)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Automatic relational logging to MySQL `audit_logs` 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Real-Time KDS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Time delay from POS checkout to live Kitchen Display queue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&lt; 1.5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Optimized MySQL indexing &amp; lightweight REST polling/fetch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 Recoverability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Daily database backup creation &amp; verified restoration test cycle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100% Backup</a:t>
                      </a:r>
                      <a:br/>
                      <a:r>
                        <a:t>Verifiability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Automated SQL dump utility generating timestamped backups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75569"/>
                </a:solidFill>
                <a:latin typeface="Calibri"/>
              </a:defRPr>
            </a:pPr>
            <a:r>
              <a:t>Note: Empirical metrics are verified through continuous testing and audit log review to sustain the PDCA reliability cycle.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07 | SYSTEM ARCHITECTURE</a:t>
            </a:r>
          </a:p>
          <a:p>
            <a:pPr>
              <a:spcAft>
                <a:spcPts val="200"/>
              </a:spcAft>
              <a:defRPr sz="2600" b="1">
                <a:solidFill>
                  <a:srgbClr val="730F19"/>
                </a:solidFill>
                <a:latin typeface="Calibri"/>
              </a:defRPr>
            </a:pPr>
            <a:r>
              <a:t>4-Tier Modular Architecture &amp; Engineering Structure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Strict architectural decoupling ensures clean separation of concerns, testability, and high operational reliability.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62179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01368"/>
            <a:ext cx="58521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730F19"/>
                </a:solidFill>
                <a:latin typeface="Calibri"/>
              </a:defRPr>
            </a:pPr>
            <a:r>
              <a:t>TIER 1: CLIENT PRESENTATION LAYER (React 18 SPA + Vite)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Single Page Application • Role-Based Dashboards (Owner, Admin, Cashier, Kitchen) • POS Billing Terminal • Monospace 80mm Thermal Receipt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52928"/>
            <a:ext cx="62179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62656"/>
            <a:ext cx="58521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730F19"/>
                </a:solidFill>
                <a:latin typeface="Calibri"/>
              </a:defRPr>
            </a:pPr>
            <a:r>
              <a:t>TIER 2: API GATEWAY &amp; ROUTING LAYER (Express.js)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REST Endpoints: /api/auth, /api/owner, /api/orders, /api/users, /api/menu • JWT Bearer Authentication • RBAC Route Protection Guards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14216"/>
            <a:ext cx="62179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23944"/>
            <a:ext cx="58521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730F19"/>
                </a:solidFill>
                <a:latin typeface="Calibri"/>
              </a:defRPr>
            </a:pPr>
            <a:r>
              <a:t>TIER 3: BUSINESS RULES &amp; SECURITY SERVICES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Poka-Yoke Input Validators • Automated GST Tax Calculator • Audit Logging Service • MySQL Dump Backup &amp; Restore Utility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75504"/>
            <a:ext cx="62179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85232"/>
            <a:ext cx="58521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730F19"/>
                </a:solidFill>
                <a:latin typeface="Calibri"/>
              </a:defRPr>
            </a:pPr>
            <a:r>
              <a:t>TIER 4: RELATIONAL DATA PERSISTENCE (MySQL / MariaDB)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Relational Schema (10 Normalized Tables) • Foreign Key Constraints • ACID Transaction Rollbacks • Timestamped Backup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691640"/>
            <a:ext cx="420624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D97706"/>
                </a:solidFill>
                <a:latin typeface="Calibri"/>
              </a:defRPr>
            </a:pPr>
            <a:r>
              <a:t>WHY MODULAR ARCHITECTURE?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Zero Direct Database Access: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Frontend components never execute SQL directly; all interactions route through authenticated REST controllers.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Strict Security Boundaries: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JWT and RBAC middleware centrally evaluate permissions before business rules execute.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Fault Isolation &amp; Containment: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An issue in receipt printing or UI layout cannot crash the database or disrupt Kitchen KDS order dispatching.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Maintainability &amp; Testability: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Each module has a single responsibility, enabling independent unit testing and clean version control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08 | TQM CONTROLS</a:t>
            </a:r>
          </a:p>
          <a:p>
            <a:pPr>
              <a:spcAft>
                <a:spcPts val="200"/>
              </a:spcAft>
              <a:defRPr sz="2600" b="1">
                <a:solidFill>
                  <a:srgbClr val="730F19"/>
                </a:solidFill>
                <a:latin typeface="Calibri"/>
              </a:defRPr>
            </a:pPr>
            <a:r>
              <a:t>Built-in TQM Reliability &amp; Mistake-Proofing (Poka-Yoke)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Quality assurance is integrated into daily operational software mechanisms, not left to post-billing manual inspections.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1.  Poka-Yoke Input Validation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Rejects empty dish names, negative quantities, invalid GST rates, and out-of-stock items before checkout is allowed.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2.  Owner RBAC Invariant Barrier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Structural security guard: Admin cannot delete, deactive, demote, or force-reset the Restaurant Owner account (HTTP 403).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33756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3.  Tamper-Evident Audit Logging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Automatically records user ID, IP address, timestamp, and details for every login, void, and role change in `audit_logs`.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33756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4.  Atomic ACID Transactions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Database commits orders and order line items together inside atomic transactions; rolls back completely on any failure.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5.  Automated &amp; On-Demand Backup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One-click SQL dump utility creates point-in-time database archives with verified restoration for disaster recovery.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0916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84632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6.  Continuous Improvement (PDCA)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Audit and error logs provide empirical data to identify recurring operational friction, feeding the Plan-Do-Check-Act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09 | DATA ARCHITECTURE</a:t>
            </a:r>
          </a:p>
          <a:p>
            <a:pPr>
              <a:spcAft>
                <a:spcPts val="200"/>
              </a:spcAft>
              <a:defRPr sz="2600" b="1">
                <a:solidFill>
                  <a:srgbClr val="730F19"/>
                </a:solidFill>
                <a:latin typeface="Calibri"/>
              </a:defRPr>
            </a:pPr>
            <a:r>
              <a:t>Relational Database Schema &amp; Reliability Entities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Normalized MySQL data model with referential integrity, foreign key constraints, and dedicated surveillance tables.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730F19"/>
                </a:solidFill>
                <a:latin typeface="Calibri"/>
              </a:defRPr>
            </a:pPr>
            <a:r>
              <a:t>CORE OPERATIONAL ENTITIES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Table: users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PK id, username, password_hash, role (Owner/Admin/Cashier/Kitchen), status, must_change_password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Table: categories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PK id, name, description, created_at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Table: menu_items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PK id, category_id [FK], name, price, is_available, created_at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Table: orders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PK id, bill_number, table_number, customer_name, subtotal, tax_amount, discount_amount, total, payment_method, order_status, created_by [FK]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Table: order_items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PK id, order_id [FK], menu_item_id [FK], item_name, price, quantity, subtotal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RELIABILITY &amp; SURVEILLANCE ENTITIES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Table: audit_logs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PK id, user_id [FK], action, details, ip_address, timestamp (Immutable security trail)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Table: expenses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PK id, category, amount, description, expense_date, recorded_by [FK] (Owner P&amp;L accounting)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Table: restaurant_settings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PK id, setting_key, setting_value (Store name, GSTIN, CGST/SGST rates, footer)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Table: error_logs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PK id, error_message, stack_trace, context, timestamp (System debugging records)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 Table: backup_logs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   PK id, file_name, file_size, created_by [FK], status, created_at (Backup tracking)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10 | CONCLUSION &amp; IMPACT</a:t>
            </a:r>
          </a:p>
          <a:p>
            <a:pPr>
              <a:spcAft>
                <a:spcPts val="200"/>
              </a:spcAft>
              <a:defRPr sz="2600" b="1">
                <a:solidFill>
                  <a:srgbClr val="730F19"/>
                </a:solidFill>
                <a:latin typeface="Calibri"/>
              </a:defRPr>
            </a:pPr>
            <a:r>
              <a:t>Reliability Achievements &amp; Quality Assurance Impact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Demonstrating tangible TQM reliability outcomes through disciplined software architecture and mistake-proofing.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34290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0632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59669"/>
                </a:solidFill>
                <a:latin typeface="Calibri"/>
              </a:defRPr>
            </a:pPr>
            <a:r>
              <a:t>ZERO FINANCIAL LEAKAGE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Automated server-side GST tax &amp; discount math eliminates human cashier calculation mistakes.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Read-only Owner surveillance safeguards prevent unauthorized edits or unmonitored bill voids.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Verified payment recording ensures cash change accuracy and instant UPI QR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691640"/>
            <a:ext cx="34290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62856" y="1874519"/>
            <a:ext cx="30632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730F19"/>
                </a:solidFill>
                <a:latin typeface="Calibri"/>
              </a:defRPr>
            </a:pPr>
            <a:r>
              <a:t>TOTAL PROCESS TRACEABILITY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Every business event—from bill generation to role modifications—is permanently logged in audit trails.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Non-repudiation guarantees complete accountability across Owner, Admin, Cashier, and Chef roles.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Detailed sales reports and P&amp;L statements are exportable to CSV/PDF with date-time stamps.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691640"/>
            <a:ext cx="34290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874519"/>
            <a:ext cx="30632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  <a:latin typeface="Calibri"/>
              </a:defRPr>
            </a:pPr>
            <a:r>
              <a:t>HIGH OPERATIONAL RELIABILITY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Decoupled 4-tier architecture ensures client rendering issues never corrupt database transactions.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On-demand and scheduled MySQL backups safeguard business records against data loss or damage.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Real-time KDS state transitions streamline kitchen communication without financial exposure.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728655" cy="1280160"/>
          </a:xfrm>
          <a:prstGeom prst="roundRect">
            <a:avLst/>
          </a:prstGeom>
          <a:solidFill>
            <a:srgbClr val="73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 rIns="36576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EF3C7"/>
                </a:solidFill>
                <a:latin typeface="Calibri"/>
              </a:defRPr>
            </a:pPr>
            <a:r>
              <a:t>TQM COMMITMENT: QUALITY AS AN OPERATIONAL INVARIANT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The Restaurant Billing &amp; Surveillance System fulfills the BBAT104 Course Quality Mandate (Q01: Improve Reliability) by transitioning quality management from an afterthought into automated, self-enforcing software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